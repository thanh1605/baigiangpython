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
  </p:notesMasterIdLst>
  <p:sldIdLst>
    <p:sldId id="256" r:id="rId2"/>
    <p:sldId id="367" r:id="rId3"/>
    <p:sldId id="388" r:id="rId4"/>
    <p:sldId id="38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25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74" autoAdjust="0"/>
  </p:normalViewPr>
  <p:slideViewPr>
    <p:cSldViewPr snapToGrid="0">
      <p:cViewPr varScale="1">
        <p:scale>
          <a:sx n="63" d="100"/>
          <a:sy n="63" d="100"/>
        </p:scale>
        <p:origin x="82" y="48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75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804E6-89EA-4453-86CA-6C53571608DC}" type="datetimeFigureOut">
              <a:rPr lang="en-US" smtClean="0"/>
              <a:t>8/10/2023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5DD35-D36A-440D-B67B-F91FA79BE08F}" type="slidenum">
              <a:rPr lang="en-US" smtClean="0"/>
              <a:t>‹#›</a:t>
            </a:fld>
            <a:endParaRPr lang="en-US"/>
          </a:p>
        </p:txBody>
      </p:sp>
    </p:spTree>
    <p:extLst>
      <p:ext uri="{BB962C8B-B14F-4D97-AF65-F5344CB8AC3E}">
        <p14:creationId xmlns:p14="http://schemas.microsoft.com/office/powerpoint/2010/main" val="3746436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A5DD35-D36A-440D-B67B-F91FA79BE08F}" type="slidenum">
              <a:rPr lang="en-US" smtClean="0"/>
              <a:t>1</a:t>
            </a:fld>
            <a:endParaRPr lang="en-US"/>
          </a:p>
        </p:txBody>
      </p:sp>
    </p:spTree>
    <p:extLst>
      <p:ext uri="{BB962C8B-B14F-4D97-AF65-F5344CB8AC3E}">
        <p14:creationId xmlns:p14="http://schemas.microsoft.com/office/powerpoint/2010/main" val="3195024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7832" y="1122364"/>
            <a:ext cx="7748336" cy="2270542"/>
          </a:xfrm>
        </p:spPr>
        <p:txBody>
          <a:bodyPr anchor="b">
            <a:normAutofit/>
          </a:bodyPr>
          <a:lstStyle>
            <a:lvl1pPr algn="ctr">
              <a:defRPr sz="4800" b="0"/>
            </a:lvl1pPr>
          </a:lstStyle>
          <a:p>
            <a:r>
              <a:rPr lang="vi-VN" noProof="0"/>
              <a:t>Click to edit Master title style</a:t>
            </a:r>
          </a:p>
        </p:txBody>
      </p:sp>
      <p:sp>
        <p:nvSpPr>
          <p:cNvPr id="3" name="Subtitle 2"/>
          <p:cNvSpPr>
            <a:spLocks noGrp="1"/>
          </p:cNvSpPr>
          <p:nvPr>
            <p:ph type="subTitle" idx="1"/>
          </p:nvPr>
        </p:nvSpPr>
        <p:spPr>
          <a:xfrm>
            <a:off x="697832" y="3741820"/>
            <a:ext cx="7748336" cy="1515979"/>
          </a:xfrm>
        </p:spPr>
        <p:txBody>
          <a:bodyPr>
            <a:normAutofit/>
          </a:bodyPr>
          <a:lstStyle>
            <a:lvl1pPr marL="0" indent="0" algn="ctr">
              <a:buNone/>
              <a:defRPr sz="3600" b="0">
                <a:solidFill>
                  <a:schemeClr val="accent2">
                    <a:lumMod val="75000"/>
                  </a:schemeClr>
                </a:solidFill>
                <a:latin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noProof="0"/>
              <a:t>Click to edit Master subtitle style</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9" name="Straight Connector 8"/>
          <p:cNvCxnSpPr/>
          <p:nvPr userDrawn="1"/>
        </p:nvCxnSpPr>
        <p:spPr>
          <a:xfrm>
            <a:off x="0" y="3573376"/>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7852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9" name="Straight Connector 8"/>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2478531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Ex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lvl1pPr marL="274320" indent="-274320">
              <a:buFont typeface="+mj-lt"/>
              <a:buAutoNum type="arabicPeriod"/>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1pPr>
            <a:lvl2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2pPr>
            <a:lvl3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3pPr>
            <a:lvl4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4pPr>
            <a:lvl5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8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normAutofit/>
          </a:bodyPr>
          <a:lstStyle>
            <a:lvl1pPr marL="0" indent="0">
              <a:buNone/>
              <a:defRPr sz="2000" b="0" spc="0">
                <a:solidFill>
                  <a:srgbClr val="0070C0"/>
                </a:solidFill>
                <a:latin typeface="Consolas" panose="020B0609020204030204" pitchFamily="49" charset="0"/>
                <a:cs typeface="Consolas" panose="020B0609020204030204" pitchFamily="49" charset="0"/>
              </a:defRPr>
            </a:lvl1pPr>
            <a:lvl2pPr>
              <a:defRPr sz="2400" b="0" spc="0">
                <a:solidFill>
                  <a:srgbClr val="0070C0"/>
                </a:solidFill>
                <a:latin typeface="Consolas" panose="020B0609020204030204" pitchFamily="49" charset="0"/>
                <a:cs typeface="Consolas" panose="020B0609020204030204" pitchFamily="49" charset="0"/>
              </a:defRPr>
            </a:lvl2pPr>
            <a:lvl3pPr>
              <a:defRPr sz="2000" b="0" spc="0">
                <a:solidFill>
                  <a:srgbClr val="0070C0"/>
                </a:solidFill>
                <a:latin typeface="Consolas" panose="020B0609020204030204" pitchFamily="49" charset="0"/>
                <a:cs typeface="Consolas" panose="020B0609020204030204" pitchFamily="49" charset="0"/>
              </a:defRPr>
            </a:lvl3pPr>
            <a:lvl4pPr>
              <a:defRPr sz="1800" b="0" spc="0">
                <a:solidFill>
                  <a:srgbClr val="0070C0"/>
                </a:solidFill>
                <a:latin typeface="Consolas" panose="020B0609020204030204" pitchFamily="49" charset="0"/>
                <a:cs typeface="Consolas" panose="020B0609020204030204" pitchFamily="49" charset="0"/>
              </a:defRPr>
            </a:lvl4pPr>
            <a:lvl5pPr>
              <a:defRPr sz="1600" b="0" spc="0">
                <a:solidFill>
                  <a:srgbClr val="0070C0"/>
                </a:solidFill>
                <a:latin typeface="Consolas" panose="020B0609020204030204" pitchFamily="49" charset="0"/>
                <a:cs typeface="Consolas" panose="020B0609020204030204" pitchFamily="49" charset="0"/>
              </a:defRPr>
            </a:lvl5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2061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3815680"/>
            <a:ext cx="7886700" cy="2298888"/>
          </a:xfrm>
        </p:spPr>
        <p:txBody>
          <a:bodyPr anchor="t">
            <a:normAutofit/>
          </a:bodyPr>
          <a:lstStyle>
            <a:lvl1pPr>
              <a:defRPr sz="4800"/>
            </a:lvl1pPr>
          </a:lstStyle>
          <a:p>
            <a:r>
              <a:rPr lang="vi-VN" noProof="0"/>
              <a:t>Click to edit Master title style</a:t>
            </a:r>
          </a:p>
        </p:txBody>
      </p:sp>
      <p:sp>
        <p:nvSpPr>
          <p:cNvPr id="3" name="Text Placeholder 2"/>
          <p:cNvSpPr>
            <a:spLocks noGrp="1"/>
          </p:cNvSpPr>
          <p:nvPr>
            <p:ph type="body" idx="1"/>
          </p:nvPr>
        </p:nvSpPr>
        <p:spPr>
          <a:xfrm>
            <a:off x="623888" y="2315494"/>
            <a:ext cx="7886700" cy="1500186"/>
          </a:xfrm>
        </p:spPr>
        <p:txBody>
          <a:bodyPr anchor="b"/>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62406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63234" y="1540026"/>
            <a:ext cx="4276412" cy="4856038"/>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5" name="Text Placeholder 4"/>
          <p:cNvSpPr>
            <a:spLocks noGrp="1"/>
          </p:cNvSpPr>
          <p:nvPr>
            <p:ph type="body" sz="quarter" idx="3"/>
          </p:nvPr>
        </p:nvSpPr>
        <p:spPr>
          <a:xfrm>
            <a:off x="4692315" y="969809"/>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
        <p:nvSpPr>
          <p:cNvPr id="6" name="Content Placeholder 5"/>
          <p:cNvSpPr>
            <a:spLocks noGrp="1"/>
          </p:cNvSpPr>
          <p:nvPr>
            <p:ph sz="quarter" idx="4"/>
          </p:nvPr>
        </p:nvSpPr>
        <p:spPr>
          <a:xfrm>
            <a:off x="4692315" y="1540025"/>
            <a:ext cx="4259179" cy="4856039"/>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7" name="Date Placeholder 6"/>
          <p:cNvSpPr>
            <a:spLocks noGrp="1"/>
          </p:cNvSpPr>
          <p:nvPr>
            <p:ph type="dt" sz="half" idx="10"/>
          </p:nvPr>
        </p:nvSpPr>
        <p:spPr/>
        <p:txBody>
          <a:bodyPr/>
          <a:lstStyle/>
          <a:p>
            <a:r>
              <a:rPr lang="en-US"/>
              <a:t>7/21/2014</a:t>
            </a:r>
          </a:p>
        </p:txBody>
      </p:sp>
      <p:sp>
        <p:nvSpPr>
          <p:cNvPr id="8" name="Footer Placeholder 7"/>
          <p:cNvSpPr>
            <a:spLocks noGrp="1"/>
          </p:cNvSpPr>
          <p:nvPr>
            <p:ph type="ftr" sz="quarter" idx="11"/>
          </p:nvPr>
        </p:nvSpPr>
        <p:spPr/>
        <p:txBody>
          <a:bodyPr/>
          <a:lstStyle/>
          <a:p>
            <a:r>
              <a:rPr lang="vi-VN"/>
              <a:t>TRƯƠNG XUÂN NAM</a:t>
            </a:r>
            <a:endParaRPr lang="en-US"/>
          </a:p>
        </p:txBody>
      </p:sp>
      <p:sp>
        <p:nvSpPr>
          <p:cNvPr id="9" name="Slide Number Placeholder 8"/>
          <p:cNvSpPr>
            <a:spLocks noGrp="1"/>
          </p:cNvSpPr>
          <p:nvPr>
            <p:ph type="sldNum" sz="quarter" idx="12"/>
          </p:nvPr>
        </p:nvSpPr>
        <p:spPr/>
        <p:txBody>
          <a:bodyPr/>
          <a:lstStyle/>
          <a:p>
            <a:fld id="{020861B7-279E-4E5B-B5F7-6735399FCDF0}" type="slidenum">
              <a:rPr lang="en-US" smtClean="0"/>
              <a:t>‹#›</a:t>
            </a:fld>
            <a:endParaRPr lang="en-US"/>
          </a:p>
        </p:txBody>
      </p:sp>
      <p:cxnSp>
        <p:nvCxnSpPr>
          <p:cNvPr id="12" name="Straight Connector 11"/>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13"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14" name="Text Placeholder 4"/>
          <p:cNvSpPr>
            <a:spLocks noGrp="1"/>
          </p:cNvSpPr>
          <p:nvPr>
            <p:ph type="body" sz="quarter" idx="13"/>
          </p:nvPr>
        </p:nvSpPr>
        <p:spPr>
          <a:xfrm>
            <a:off x="180467" y="982583"/>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Tree>
    <p:extLst>
      <p:ext uri="{BB962C8B-B14F-4D97-AF65-F5344CB8AC3E}">
        <p14:creationId xmlns:p14="http://schemas.microsoft.com/office/powerpoint/2010/main" val="377245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Date Placeholder 2"/>
          <p:cNvSpPr>
            <a:spLocks noGrp="1"/>
          </p:cNvSpPr>
          <p:nvPr>
            <p:ph type="dt" sz="half" idx="10"/>
          </p:nvPr>
        </p:nvSpPr>
        <p:spPr/>
        <p:txBody>
          <a:bodyPr/>
          <a:lstStyle/>
          <a:p>
            <a:r>
              <a:rPr lang="en-US"/>
              <a:t>7/21/2014</a:t>
            </a:r>
          </a:p>
        </p:txBody>
      </p:sp>
      <p:sp>
        <p:nvSpPr>
          <p:cNvPr id="4" name="Footer Placeholder 3"/>
          <p:cNvSpPr>
            <a:spLocks noGrp="1"/>
          </p:cNvSpPr>
          <p:nvPr>
            <p:ph type="ftr" sz="quarter" idx="11"/>
          </p:nvPr>
        </p:nvSpPr>
        <p:spPr/>
        <p:txBody>
          <a:bodyPr/>
          <a:lstStyle/>
          <a:p>
            <a:r>
              <a:rPr lang="vi-VN"/>
              <a:t>TRƯƠNG XUÂN NAM</a:t>
            </a:r>
            <a:endParaRPr lang="en-US"/>
          </a:p>
        </p:txBody>
      </p:sp>
      <p:sp>
        <p:nvSpPr>
          <p:cNvPr id="5" name="Slide Number Placeholder 4"/>
          <p:cNvSpPr>
            <a:spLocks noGrp="1"/>
          </p:cNvSpPr>
          <p:nvPr>
            <p:ph type="sldNum" sz="quarter" idx="12"/>
          </p:nvPr>
        </p:nvSpPr>
        <p:spPr/>
        <p:txBody>
          <a:bodyPr/>
          <a:lstStyle/>
          <a:p>
            <a:fld id="{020861B7-279E-4E5B-B5F7-6735399FCDF0}" type="slidenum">
              <a:rPr lang="en-US" smtClean="0"/>
              <a:t>‹#›</a:t>
            </a:fld>
            <a:endParaRPr lang="en-US"/>
          </a:p>
        </p:txBody>
      </p:sp>
      <p:cxnSp>
        <p:nvCxnSpPr>
          <p:cNvPr id="7" name="Straight Connector 6"/>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859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7/21/2014</a:t>
            </a:r>
          </a:p>
        </p:txBody>
      </p:sp>
      <p:sp>
        <p:nvSpPr>
          <p:cNvPr id="3" name="Footer Placeholder 2"/>
          <p:cNvSpPr>
            <a:spLocks noGrp="1"/>
          </p:cNvSpPr>
          <p:nvPr>
            <p:ph type="ftr" sz="quarter" idx="11"/>
          </p:nvPr>
        </p:nvSpPr>
        <p:spPr/>
        <p:txBody>
          <a:bodyPr/>
          <a:lstStyle/>
          <a:p>
            <a:r>
              <a:rPr lang="vi-VN"/>
              <a:t>TRƯƠNG XUÂN NAM</a:t>
            </a:r>
            <a:endParaRPr lang="en-US"/>
          </a:p>
        </p:txBody>
      </p:sp>
      <p:sp>
        <p:nvSpPr>
          <p:cNvPr id="4" name="Slide Number Placeholder 3"/>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1330733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3" name="Text Placeholder 2"/>
          <p:cNvSpPr>
            <a:spLocks noGrp="1"/>
          </p:cNvSpPr>
          <p:nvPr>
            <p:ph type="body" idx="1"/>
          </p:nvPr>
        </p:nvSpPr>
        <p:spPr>
          <a:xfrm>
            <a:off x="180467" y="945761"/>
            <a:ext cx="8771027" cy="5462335"/>
          </a:xfrm>
          <a:prstGeom prst="rect">
            <a:avLst/>
          </a:prstGeom>
        </p:spPr>
        <p:txBody>
          <a:bodyPr vert="horz" lIns="91440" tIns="45720" rIns="91440" bIns="45720" rtlCol="0">
            <a:normAutofit/>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2"/>
          </p:nvPr>
        </p:nvSpPr>
        <p:spPr>
          <a:xfrm>
            <a:off x="180467" y="6492321"/>
            <a:ext cx="2057400" cy="305024"/>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pitchFamily="34" charset="0"/>
                <a:cs typeface="Calibri" panose="020F0502020204030204" pitchFamily="34" charset="0"/>
              </a:defRPr>
            </a:lvl1pPr>
          </a:lstStyle>
          <a:p>
            <a:r>
              <a:rPr lang="en-US"/>
              <a:t>7/21/2014</a:t>
            </a:r>
          </a:p>
        </p:txBody>
      </p:sp>
      <p:sp>
        <p:nvSpPr>
          <p:cNvPr id="5" name="Footer Placeholder 4"/>
          <p:cNvSpPr>
            <a:spLocks noGrp="1"/>
          </p:cNvSpPr>
          <p:nvPr>
            <p:ph type="ftr" sz="quarter" idx="3"/>
          </p:nvPr>
        </p:nvSpPr>
        <p:spPr>
          <a:xfrm>
            <a:off x="3028950" y="6492321"/>
            <a:ext cx="3086100" cy="28931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pitchFamily="34" charset="0"/>
                <a:cs typeface="Calibri" panose="020F0502020204030204" pitchFamily="34" charset="0"/>
              </a:defRPr>
            </a:lvl1pPr>
          </a:lstStyle>
          <a:p>
            <a:r>
              <a:rPr lang="vi-VN"/>
              <a:t>TRƯƠNG XUÂN NAM</a:t>
            </a:r>
            <a:endParaRPr lang="en-US"/>
          </a:p>
        </p:txBody>
      </p:sp>
      <p:sp>
        <p:nvSpPr>
          <p:cNvPr id="6" name="Slide Number Placeholder 5"/>
          <p:cNvSpPr>
            <a:spLocks noGrp="1"/>
          </p:cNvSpPr>
          <p:nvPr>
            <p:ph type="sldNum" sz="quarter" idx="4"/>
          </p:nvPr>
        </p:nvSpPr>
        <p:spPr>
          <a:xfrm>
            <a:off x="6894094" y="6492320"/>
            <a:ext cx="2057400" cy="28931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pitchFamily="34" charset="0"/>
                <a:cs typeface="Calibri" panose="020F0502020204030204" pitchFamily="34" charset="0"/>
              </a:defRPr>
            </a:lvl1pPr>
          </a:lstStyle>
          <a:p>
            <a:fld id="{020861B7-279E-4E5B-B5F7-6735399FCDF0}" type="slidenum">
              <a:rPr lang="en-US" smtClean="0"/>
              <a:pPr/>
              <a:t>‹#›</a:t>
            </a:fld>
            <a:endParaRPr lang="en-US"/>
          </a:p>
        </p:txBody>
      </p:sp>
    </p:spTree>
    <p:extLst>
      <p:ext uri="{BB962C8B-B14F-4D97-AF65-F5344CB8AC3E}">
        <p14:creationId xmlns:p14="http://schemas.microsoft.com/office/powerpoint/2010/main" val="3585064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6" r:id="rId4"/>
    <p:sldLayoutId id="2147483651" r:id="rId5"/>
    <p:sldLayoutId id="2147483653" r:id="rId6"/>
    <p:sldLayoutId id="2147483654" r:id="rId7"/>
    <p:sldLayoutId id="2147483655" r:id="rId8"/>
  </p:sldLayoutIdLst>
  <p:hf hdr="0" dt="0"/>
  <p:txStyles>
    <p:titleStyle>
      <a:lvl1pPr algn="l" defTabSz="685800" rtl="0" eaLnBrk="1" latinLnBrk="0" hangingPunct="1">
        <a:lnSpc>
          <a:spcPct val="90000"/>
        </a:lnSpc>
        <a:spcBef>
          <a:spcPct val="0"/>
        </a:spcBef>
        <a:buNone/>
        <a:defRPr sz="4000" kern="1200">
          <a:solidFill>
            <a:srgbClr val="57257D"/>
          </a:solidFill>
          <a:latin typeface="+mn-lt"/>
          <a:ea typeface="+mj-ea"/>
          <a:cs typeface="Calibri" panose="020F0502020204030204" pitchFamily="34" charset="0"/>
        </a:defRPr>
      </a:lvl1pPr>
    </p:titleStyle>
    <p:bodyStyle>
      <a:lvl1pPr marL="274320" indent="-274320" algn="l" defTabSz="685800" rtl="0" eaLnBrk="1" latinLnBrk="0" hangingPunct="1">
        <a:lnSpc>
          <a:spcPct val="100000"/>
        </a:lnSpc>
        <a:spcBef>
          <a:spcPts val="750"/>
        </a:spcBef>
        <a:buClr>
          <a:srgbClr val="FF0000"/>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731520" indent="-274320" algn="l" defTabSz="685800" rtl="0" eaLnBrk="1" latinLnBrk="0" hangingPunct="1">
        <a:lnSpc>
          <a:spcPct val="100000"/>
        </a:lnSpc>
        <a:spcBef>
          <a:spcPts val="375"/>
        </a:spcBef>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097280" indent="-171450" algn="l" defTabSz="685800" rtl="0" eaLnBrk="1" latinLnBrk="0" hangingPunct="1">
        <a:lnSpc>
          <a:spcPct val="100000"/>
        </a:lnSpc>
        <a:spcBef>
          <a:spcPts val="375"/>
        </a:spcBef>
        <a:buFont typeface="Arial" panose="020B0604020202020204" pitchFamily="34" charset="0"/>
        <a:buChar char="•"/>
        <a:defRPr sz="2200" kern="1200">
          <a:solidFill>
            <a:schemeClr val="tx1"/>
          </a:solidFill>
          <a:latin typeface="Calibri" panose="020F0502020204030204" pitchFamily="34" charset="0"/>
          <a:ea typeface="+mn-ea"/>
          <a:cs typeface="Calibri" panose="020F0502020204030204" pitchFamily="34" charset="0"/>
        </a:defRPr>
      </a:lvl3pPr>
      <a:lvl4pPr marL="1463040" indent="-171450" algn="l"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828800" indent="-171450" algn="l" defTabSz="685800" rtl="0" eaLnBrk="1" latinLnBrk="0" hangingPunct="1">
        <a:lnSpc>
          <a:spcPct val="100000"/>
        </a:lnSpc>
        <a:spcBef>
          <a:spcPts val="375"/>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noProof="1"/>
              <a:t>LẬP TRÌNH PYTHON</a:t>
            </a:r>
          </a:p>
        </p:txBody>
      </p:sp>
      <p:sp>
        <p:nvSpPr>
          <p:cNvPr id="3" name="Subtitle 2"/>
          <p:cNvSpPr>
            <a:spLocks noGrp="1"/>
          </p:cNvSpPr>
          <p:nvPr>
            <p:ph type="subTitle" idx="1"/>
          </p:nvPr>
        </p:nvSpPr>
        <p:spPr/>
        <p:txBody>
          <a:bodyPr/>
          <a:lstStyle/>
          <a:p>
            <a:r>
              <a:rPr lang="vi-VN" noProof="1"/>
              <a:t>Bài tập 1</a:t>
            </a:r>
          </a:p>
        </p:txBody>
      </p:sp>
    </p:spTree>
    <p:extLst>
      <p:ext uri="{BB962C8B-B14F-4D97-AF65-F5344CB8AC3E}">
        <p14:creationId xmlns:p14="http://schemas.microsoft.com/office/powerpoint/2010/main" val="199728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r>
              <a:rPr lang="vi-VN" noProof="1"/>
              <a:t>Nhập số nguyên dương N, tính tổng các số là bội số của 3 hoặc 5 nhỏ hơn N.</a:t>
            </a:r>
          </a:p>
          <a:p>
            <a:pPr lvl="1"/>
            <a:r>
              <a:rPr lang="vi-VN" noProof="1"/>
              <a:t>Ví dụ: N = 10 thì tổng các số là 23 (3+5+6+9)</a:t>
            </a:r>
          </a:p>
          <a:p>
            <a:r>
              <a:rPr lang="vi-VN" noProof="1"/>
              <a:t>Nhập số N, hãy in ra số fibonacci lớn nhất không vượt quá N.</a:t>
            </a:r>
          </a:p>
          <a:p>
            <a:pPr lvl="1"/>
            <a:r>
              <a:rPr lang="vi-VN" noProof="1"/>
              <a:t>Ví dụ: N = 90 thì in số 89</a:t>
            </a:r>
          </a:p>
          <a:p>
            <a:r>
              <a:rPr lang="vi-VN" noProof="1"/>
              <a:t>Nhập số nguyên dương N, in ra cách phân tích N thành các thừa số nguyên tố.</a:t>
            </a:r>
          </a:p>
          <a:p>
            <a:pPr lvl="1"/>
            <a:r>
              <a:rPr lang="vi-VN" noProof="1"/>
              <a:t>Ví dụ: N = 18 thì in ra 18 = 2 x 3 x 3</a:t>
            </a:r>
          </a:p>
          <a:p>
            <a:pPr lvl="1"/>
            <a:r>
              <a:rPr lang="vi-VN" noProof="1"/>
              <a:t>Ví dụ: N = 13195 thì in ra 13195 = 5 x 7 x 13 x 29</a:t>
            </a:r>
          </a:p>
          <a:p>
            <a:r>
              <a:rPr lang="vi-VN" noProof="1"/>
              <a:t>Nhập số N, in ra số đối xứng lớn nhất nhỏ hơn N.</a:t>
            </a:r>
          </a:p>
          <a:p>
            <a:pPr lvl="1"/>
            <a:r>
              <a:rPr lang="vi-VN" noProof="1"/>
              <a:t>Ví dụ: N = 110 thì in ra số 101</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2</a:t>
            </a:fld>
            <a:endParaRPr lang="en-US"/>
          </a:p>
        </p:txBody>
      </p:sp>
    </p:spTree>
    <p:extLst>
      <p:ext uri="{BB962C8B-B14F-4D97-AF65-F5344CB8AC3E}">
        <p14:creationId xmlns:p14="http://schemas.microsoft.com/office/powerpoint/2010/main" val="87626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EABCB-03FD-498F-A19B-A711C87C333B}"/>
              </a:ext>
            </a:extLst>
          </p:cNvPr>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3" name="Content Placeholder 2">
            <a:extLst>
              <a:ext uri="{FF2B5EF4-FFF2-40B4-BE49-F238E27FC236}">
                <a16:creationId xmlns:a16="http://schemas.microsoft.com/office/drawing/2014/main" id="{A517BEF3-D440-44F0-9EAF-3EF9A87CBEF0}"/>
              </a:ext>
            </a:extLst>
          </p:cNvPr>
          <p:cNvSpPr>
            <a:spLocks noGrp="1"/>
          </p:cNvSpPr>
          <p:nvPr>
            <p:ph idx="1"/>
          </p:nvPr>
        </p:nvSpPr>
        <p:spPr>
          <a:xfrm>
            <a:off x="180467" y="945761"/>
            <a:ext cx="8771027" cy="5462335"/>
          </a:xfrm>
        </p:spPr>
        <p:txBody>
          <a:bodyPr>
            <a:noAutofit/>
          </a:bodyPr>
          <a:lstStyle/>
          <a:p>
            <a:pPr>
              <a:buFont typeface="+mj-lt"/>
              <a:buAutoNum type="arabicPeriod" startAt="5"/>
            </a:pPr>
            <a:r>
              <a:rPr lang="vi-VN" noProof="1"/>
              <a:t>Nhập một dãy số nguyên được ghi liên tiếp trên một dòng, mỗi số cách nhau bởi dấu phẩy. Hãy tính và in ra chênh lệch giữa tổng bình phương và bình phương của tổng các số.</a:t>
            </a:r>
          </a:p>
          <a:p>
            <a:pPr lvl="1"/>
            <a:r>
              <a:rPr lang="vi-VN" noProof="1"/>
              <a:t>Ví dụ: dãy nhập vào “1,2,3,4,5,6,7,8,9,10” thì in ra 2640</a:t>
            </a:r>
          </a:p>
          <a:p>
            <a:pPr lvl="1"/>
            <a:r>
              <a:rPr lang="vi-VN" noProof="1"/>
              <a:t>Giải thích:	tổng bình phương 1</a:t>
            </a:r>
            <a:r>
              <a:rPr lang="vi-VN" baseline="30000" noProof="1"/>
              <a:t>2</a:t>
            </a:r>
            <a:r>
              <a:rPr lang="vi-VN" noProof="1"/>
              <a:t>+2</a:t>
            </a:r>
            <a:r>
              <a:rPr lang="vi-VN" baseline="30000" noProof="1"/>
              <a:t>2</a:t>
            </a:r>
            <a:r>
              <a:rPr lang="vi-VN" noProof="1"/>
              <a:t>+...+10</a:t>
            </a:r>
            <a:r>
              <a:rPr lang="vi-VN" baseline="30000" noProof="1"/>
              <a:t>2</a:t>
            </a:r>
            <a:r>
              <a:rPr lang="vi-VN" noProof="1"/>
              <a:t>=385</a:t>
            </a:r>
            <a:br>
              <a:rPr lang="vi-VN" noProof="1"/>
            </a:br>
            <a:r>
              <a:rPr lang="vi-VN" noProof="1"/>
              <a:t>			bình phương tổng (1+2+...+10)</a:t>
            </a:r>
            <a:r>
              <a:rPr lang="vi-VN" baseline="30000" noProof="1"/>
              <a:t>2</a:t>
            </a:r>
            <a:r>
              <a:rPr lang="vi-VN" noProof="1"/>
              <a:t>=3025</a:t>
            </a:r>
            <a:br>
              <a:rPr lang="vi-VN" noProof="1"/>
            </a:br>
            <a:r>
              <a:rPr lang="vi-VN" noProof="1"/>
              <a:t>			chênh lệch = 3025 - 385 = 2640</a:t>
            </a:r>
          </a:p>
          <a:p>
            <a:pPr>
              <a:buAutoNum type="arabicPeriod" startAt="5"/>
            </a:pPr>
            <a:r>
              <a:rPr lang="vi-VN" noProof="1"/>
              <a:t>Nhập dãy C toàn các chữ số (chẳng hạn “15121231”) và số nguyên N. Tìm trong dãy C dãy con liên tiếp độ dài N mà chênh lệch giữa chữ số lớn nhất và chữ số nhỏ nhất là bé nhất có thể.</a:t>
            </a:r>
          </a:p>
          <a:p>
            <a:pPr lvl="1"/>
            <a:r>
              <a:rPr lang="vi-VN" noProof="1"/>
              <a:t>Với dãy C như trên và N = 4 thì dãy là “1212”</a:t>
            </a:r>
          </a:p>
        </p:txBody>
      </p:sp>
      <p:sp>
        <p:nvSpPr>
          <p:cNvPr id="4" name="Footer Placeholder 3">
            <a:extLst>
              <a:ext uri="{FF2B5EF4-FFF2-40B4-BE49-F238E27FC236}">
                <a16:creationId xmlns:a16="http://schemas.microsoft.com/office/drawing/2014/main" id="{DD39D588-9A30-4920-9082-64D2FEA703F5}"/>
              </a:ext>
            </a:extLst>
          </p:cNvPr>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a:extLst>
              <a:ext uri="{FF2B5EF4-FFF2-40B4-BE49-F238E27FC236}">
                <a16:creationId xmlns:a16="http://schemas.microsoft.com/office/drawing/2014/main" id="{F309DA05-54B3-4888-BB6E-E360E06A245D}"/>
              </a:ext>
            </a:extLst>
          </p:cNvPr>
          <p:cNvSpPr>
            <a:spLocks noGrp="1"/>
          </p:cNvSpPr>
          <p:nvPr>
            <p:ph type="sldNum" sz="quarter" idx="12"/>
          </p:nvPr>
        </p:nvSpPr>
        <p:spPr>
          <a:xfrm>
            <a:off x="6894094" y="6492320"/>
            <a:ext cx="2057400" cy="289315"/>
          </a:xfrm>
        </p:spPr>
        <p:txBody>
          <a:bodyPr/>
          <a:lstStyle/>
          <a:p>
            <a:fld id="{020861B7-279E-4E5B-B5F7-6735399FCDF0}" type="slidenum">
              <a:rPr lang="en-US" smtClean="0"/>
              <a:pPr/>
              <a:t>3</a:t>
            </a:fld>
            <a:endParaRPr lang="en-US"/>
          </a:p>
        </p:txBody>
      </p:sp>
    </p:spTree>
    <p:extLst>
      <p:ext uri="{BB962C8B-B14F-4D97-AF65-F5344CB8AC3E}">
        <p14:creationId xmlns:p14="http://schemas.microsoft.com/office/powerpoint/2010/main" val="306018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5C91E-AFBA-414A-8EC8-A756C81097B6}"/>
              </a:ext>
            </a:extLst>
          </p:cNvPr>
          <p:cNvSpPr>
            <a:spLocks noGrp="1"/>
          </p:cNvSpPr>
          <p:nvPr>
            <p:ph type="title"/>
          </p:nvPr>
        </p:nvSpPr>
        <p:spPr>
          <a:xfrm>
            <a:off x="180467" y="172615"/>
            <a:ext cx="8771027" cy="597406"/>
          </a:xfrm>
        </p:spPr>
        <p:txBody>
          <a:bodyPr>
            <a:normAutofit fontScale="90000"/>
          </a:bodyPr>
          <a:lstStyle/>
          <a:p>
            <a:r>
              <a:rPr lang="vi-VN" noProof="1"/>
              <a:t>Bài tập</a:t>
            </a:r>
            <a:endParaRPr lang="vi-VN"/>
          </a:p>
        </p:txBody>
      </p:sp>
      <p:sp>
        <p:nvSpPr>
          <p:cNvPr id="3" name="Content Placeholder 2">
            <a:extLst>
              <a:ext uri="{FF2B5EF4-FFF2-40B4-BE49-F238E27FC236}">
                <a16:creationId xmlns:a16="http://schemas.microsoft.com/office/drawing/2014/main" id="{8C69486C-F7B7-4D55-9356-9726422A52D1}"/>
              </a:ext>
            </a:extLst>
          </p:cNvPr>
          <p:cNvSpPr>
            <a:spLocks noGrp="1"/>
          </p:cNvSpPr>
          <p:nvPr>
            <p:ph idx="1"/>
          </p:nvPr>
        </p:nvSpPr>
        <p:spPr>
          <a:xfrm>
            <a:off x="180467" y="945761"/>
            <a:ext cx="8771027" cy="5462335"/>
          </a:xfrm>
        </p:spPr>
        <p:txBody>
          <a:bodyPr>
            <a:normAutofit/>
          </a:bodyPr>
          <a:lstStyle/>
          <a:p>
            <a:pPr>
              <a:buFont typeface="+mj-lt"/>
              <a:buAutoNum type="arabicPeriod" startAt="7"/>
            </a:pPr>
            <a:r>
              <a:rPr lang="vi-VN"/>
              <a:t>Nhập số nguyên dương N, hãy tính tổng các chữ số của số 2</a:t>
            </a:r>
            <a:r>
              <a:rPr lang="vi-VN" baseline="30000"/>
              <a:t>N</a:t>
            </a:r>
            <a:r>
              <a:rPr lang="vi-VN"/>
              <a:t>.</a:t>
            </a:r>
          </a:p>
          <a:p>
            <a:pPr lvl="1"/>
            <a:r>
              <a:rPr lang="vi-VN"/>
              <a:t>Ví dụ N = 15 thì in ra 26 (2</a:t>
            </a:r>
            <a:r>
              <a:rPr lang="vi-VN" baseline="30000"/>
              <a:t>15</a:t>
            </a:r>
            <a:r>
              <a:rPr lang="vi-VN"/>
              <a:t>=32768, 3+2+7+6+8=26)</a:t>
            </a:r>
          </a:p>
          <a:p>
            <a:pPr>
              <a:buAutoNum type="arabicPeriod" startAt="7"/>
            </a:pPr>
            <a:r>
              <a:rPr lang="vi-VN"/>
              <a:t>Nhập chuỗi S, hãy in ra màn hình các chuỗi con liên tiếp khác nhau của S.</a:t>
            </a:r>
          </a:p>
          <a:p>
            <a:pPr lvl="1"/>
            <a:r>
              <a:rPr lang="vi-VN"/>
              <a:t>Ví dụ S = ‘abcaca’ thì các chuỗi con liên tiếp khác nhau của S là a, ab, abc, abca, abcac, abcaca, ac, aca, b, bc, bca, bcac, bcaca, c, ca, cac, caca</a:t>
            </a:r>
          </a:p>
          <a:p>
            <a:pPr>
              <a:buAutoNum type="arabicPeriod" startAt="7"/>
            </a:pPr>
            <a:r>
              <a:rPr lang="vi-VN"/>
              <a:t>Nhập chuỗi S, hãy in ra màn hình các chuỗi con khác nhau của S.</a:t>
            </a:r>
          </a:p>
          <a:p>
            <a:pPr lvl="1"/>
            <a:r>
              <a:rPr lang="vi-VN"/>
              <a:t>Ví dụ S = ‘aabc’ thì các chuỗi con khác nhau của S là a, b, c, aa, ab, ac, bc, aab, aac, abc, aabc</a:t>
            </a:r>
          </a:p>
        </p:txBody>
      </p:sp>
      <p:sp>
        <p:nvSpPr>
          <p:cNvPr id="4" name="Footer Placeholder 3">
            <a:extLst>
              <a:ext uri="{FF2B5EF4-FFF2-40B4-BE49-F238E27FC236}">
                <a16:creationId xmlns:a16="http://schemas.microsoft.com/office/drawing/2014/main" id="{80734DE4-8769-4573-87F4-65FB291D5925}"/>
              </a:ext>
            </a:extLst>
          </p:cNvPr>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a:extLst>
              <a:ext uri="{FF2B5EF4-FFF2-40B4-BE49-F238E27FC236}">
                <a16:creationId xmlns:a16="http://schemas.microsoft.com/office/drawing/2014/main" id="{5757FDF6-9527-4651-BD17-6F597111343F}"/>
              </a:ext>
            </a:extLst>
          </p:cNvPr>
          <p:cNvSpPr>
            <a:spLocks noGrp="1"/>
          </p:cNvSpPr>
          <p:nvPr>
            <p:ph type="sldNum" sz="quarter" idx="12"/>
          </p:nvPr>
        </p:nvSpPr>
        <p:spPr>
          <a:xfrm>
            <a:off x="6894094" y="6492320"/>
            <a:ext cx="2057400" cy="289315"/>
          </a:xfrm>
        </p:spPr>
        <p:txBody>
          <a:bodyPr/>
          <a:lstStyle/>
          <a:p>
            <a:fld id="{020861B7-279E-4E5B-B5F7-6735399FCDF0}" type="slidenum">
              <a:rPr lang="en-US" smtClean="0"/>
              <a:pPr/>
              <a:t>4</a:t>
            </a:fld>
            <a:endParaRPr lang="en-US"/>
          </a:p>
        </p:txBody>
      </p:sp>
    </p:spTree>
    <p:extLst>
      <p:ext uri="{BB962C8B-B14F-4D97-AF65-F5344CB8AC3E}">
        <p14:creationId xmlns:p14="http://schemas.microsoft.com/office/powerpoint/2010/main" val="6002106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4213</TotalTime>
  <Words>469</Words>
  <Application>Microsoft Office PowerPoint</Application>
  <PresentationFormat>On-screen Show (4:3)</PresentationFormat>
  <Paragraphs>32</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Calibri</vt:lpstr>
      <vt:lpstr>CMU Bright</vt:lpstr>
      <vt:lpstr>Consolas</vt:lpstr>
      <vt:lpstr>Times New Roman</vt:lpstr>
      <vt:lpstr>Wingdings</vt:lpstr>
      <vt:lpstr>Office Theme</vt:lpstr>
      <vt:lpstr>LẬP TRÌNH PYTHON</vt:lpstr>
      <vt:lpstr>Bài tập</vt:lpstr>
      <vt:lpstr>Bài tập</vt:lpstr>
      <vt:lpstr>Bài tập</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trình dịch</dc:title>
  <dc:creator>Xuan Nam Truong</dc:creator>
  <cp:lastModifiedBy>Đỗ Thành</cp:lastModifiedBy>
  <cp:revision>335</cp:revision>
  <dcterms:created xsi:type="dcterms:W3CDTF">2014-07-18T08:54:45Z</dcterms:created>
  <dcterms:modified xsi:type="dcterms:W3CDTF">2023-08-10T15:41:23Z</dcterms:modified>
</cp:coreProperties>
</file>